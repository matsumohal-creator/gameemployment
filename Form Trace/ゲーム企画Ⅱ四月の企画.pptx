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5" r:id="rId8"/>
    <p:sldId id="260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1" autoAdjust="0"/>
    <p:restoredTop sz="94660"/>
  </p:normalViewPr>
  <p:slideViewPr>
    <p:cSldViewPr snapToGrid="0">
      <p:cViewPr varScale="1">
        <p:scale>
          <a:sx n="67" d="100"/>
          <a:sy n="67" d="100"/>
        </p:scale>
        <p:origin x="15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6D1CD-72DB-4F4E-A32B-0775CBA01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C25FA25-6221-4DBB-B3B1-A0962F408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A91F28-C372-4266-8598-F8431FD7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8677B8-CC0C-4A71-8795-BBE9D07B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FE02F0-D2D8-4F64-8F94-31369FA4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81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E18D9C-E3D3-4E14-B7E1-25E616D2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F58177-9B5F-4883-8817-795E944D4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C71AB8-9C30-4530-9222-25DA7D33C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92200C-D3E6-46B0-ACBE-368F04DA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D74E1A-75E2-4CD1-97E6-3516D5AF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15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B83310-A763-4AA9-A32F-0423B0DF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019F8-81F7-47E1-938A-CB7F750F2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B5A61F-4829-43E6-9243-28A78729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173FF5-90CB-461D-9E3F-C7320552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6EC8EE-33D6-4933-B19D-897EB21E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08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A1B3E1-8880-429E-8325-62892816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0F45BA-D6CA-4872-A989-BD348C307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B7365E-1377-4E4C-996C-097BA1617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C38F68-35AA-4332-9039-14C4DA679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CD613F-D637-4BD3-A332-6C6531C5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701384-DB75-4301-AE45-445399EA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917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4863C-109B-495C-8AF4-44A8BEF5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6F51EE-BEE3-467D-93E7-97E5443D9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4731DF-CC23-42FF-ABFF-519631453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B240D4-B16E-49C6-AFD5-C80E58891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A0C5E85-F2E0-42C9-B1EC-69BDD3FFE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6BD5A1A-8E39-43B9-A42A-84E5590B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10DF02-195E-4992-88A5-DCF254D8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27E04CF-0D19-4F4F-9D6C-56969D43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44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1E780-AA1C-42DB-AC85-F595178F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954EB2-06F1-4814-A75B-14480780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9968D8-DA6F-4119-9903-7CABE5C4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C86681-1094-43BC-8B50-3E7A6F7A1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436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69191B9-414E-4F93-A77E-8504D0CA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21C1C2F-8282-4322-85B4-2B0798C3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73B4F3-CBE9-42A8-A0CA-0ECED451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87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B6DAC-9068-40E4-8DA9-0E377493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F6B568-26FB-4A84-A219-517BC8F86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261BA3-375E-4858-B35E-2709504DB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8E08C5-D312-4B6C-BAFD-4B63DE03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8AD1BB-BFCF-44A2-B976-95844BA3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E842D-F8D9-4A58-8226-AA4379CA4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78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4AFFA-B034-4872-8B5E-3F0BDAF3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2EDCB5-3DF7-48FF-8B0B-4A7FFB0CE1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61156B-59EE-4A0E-A5DF-25E29B5A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BF3CA0-4A1B-40E0-8934-FE3659F5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CF054C-2E3F-42B9-A24D-08CD50BE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94D400-089E-41CF-A03D-FC20DCBF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554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3CE41C-551C-4A82-BA02-ED080EBF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632BA5-4A59-4DB5-9A31-4238BDF41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04A392-C78F-4425-9564-A81241FF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2949AD-FCAD-47E3-B251-BB47B9DD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22233F-FFE5-4288-A328-57208F61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88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39535D-D938-4EB4-95B7-5A05A855E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1FA990-9363-4591-83D7-7487DB943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75C243-45B2-4FAC-83D7-0BB8A11F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2C8937-84CE-4D50-8BBE-91576786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B1149F-363E-48EA-AC5A-8BDF723F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47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BF63F8-B4A1-4630-8370-D9526807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9AF752-B8CA-4111-9CB2-24D31B615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00871D-2BBF-444E-823E-3E51DACBA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C00AD-3416-448C-A57A-8EBA5F80DBC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88DA5D-553C-4136-85C5-BDC7E1720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CBCF4F-B3E0-43B3-B961-BD01D5E5F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23739-EF71-42E9-BB22-C6D1CBC752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90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B5DCB-3E6A-4751-89C2-3F2FF68A3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7622" y="558248"/>
            <a:ext cx="9144000" cy="824797"/>
          </a:xfrm>
        </p:spPr>
        <p:txBody>
          <a:bodyPr>
            <a:noAutofit/>
          </a:bodyPr>
          <a:lstStyle/>
          <a:p>
            <a:r>
              <a:rPr kumimoji="1" lang="ja-JP" altLang="en-US" sz="4400" dirty="0"/>
              <a:t>フォームトレース（</a:t>
            </a:r>
            <a:r>
              <a:rPr kumimoji="1" lang="en-US" altLang="ja-JP" sz="4400" dirty="0"/>
              <a:t>Form Trace</a:t>
            </a:r>
            <a:r>
              <a:rPr kumimoji="1" lang="ja-JP" altLang="en-US" sz="4400" dirty="0"/>
              <a:t>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C3E17F0-EC1F-41A5-899C-8D3B8E651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4" y="3195174"/>
            <a:ext cx="2429105" cy="242910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91491F2-E644-4EE6-BDB6-190C5596E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35" y="4021667"/>
            <a:ext cx="740639" cy="118654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275B966-7B4A-409E-ADFA-BE73EB7C1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601" y="2690065"/>
            <a:ext cx="2546266" cy="306901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E408144-FE87-4543-AF14-5555DCA9A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942156"/>
            <a:ext cx="4762500" cy="4762500"/>
          </a:xfrm>
          <a:prstGeom prst="rect">
            <a:avLst/>
          </a:prstGeom>
        </p:spPr>
      </p:pic>
      <p:sp>
        <p:nvSpPr>
          <p:cNvPr id="8" name="矢印: 下カーブ 7">
            <a:extLst>
              <a:ext uri="{FF2B5EF4-FFF2-40B4-BE49-F238E27FC236}">
                <a16:creationId xmlns:a16="http://schemas.microsoft.com/office/drawing/2014/main" id="{3FFEC08F-E927-4C2E-8D86-657A9DD779E1}"/>
              </a:ext>
            </a:extLst>
          </p:cNvPr>
          <p:cNvSpPr/>
          <p:nvPr/>
        </p:nvSpPr>
        <p:spPr>
          <a:xfrm flipV="1">
            <a:off x="6624938" y="4934821"/>
            <a:ext cx="3463328" cy="98462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矢印: 下カーブ 8">
            <a:extLst>
              <a:ext uri="{FF2B5EF4-FFF2-40B4-BE49-F238E27FC236}">
                <a16:creationId xmlns:a16="http://schemas.microsoft.com/office/drawing/2014/main" id="{C4204E0E-217E-4E44-90D0-FFE36C7B37B8}"/>
              </a:ext>
            </a:extLst>
          </p:cNvPr>
          <p:cNvSpPr/>
          <p:nvPr/>
        </p:nvSpPr>
        <p:spPr>
          <a:xfrm flipH="1">
            <a:off x="2135556" y="3060377"/>
            <a:ext cx="3483551" cy="98462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AFA05C2-3CC0-41EA-A59B-34205AE436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2" y="3886870"/>
            <a:ext cx="811938" cy="61661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B165951-B52E-4192-A1AA-6F4ED1B703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22" y="4101417"/>
            <a:ext cx="811938" cy="616617"/>
          </a:xfrm>
          <a:prstGeom prst="rect">
            <a:avLst/>
          </a:prstGeom>
        </p:spPr>
      </p:pic>
      <p:sp>
        <p:nvSpPr>
          <p:cNvPr id="12" name="矢印: 下カーブ 11">
            <a:extLst>
              <a:ext uri="{FF2B5EF4-FFF2-40B4-BE49-F238E27FC236}">
                <a16:creationId xmlns:a16="http://schemas.microsoft.com/office/drawing/2014/main" id="{474208F3-8B24-4DEE-AD55-8DF1E46EABB5}"/>
              </a:ext>
            </a:extLst>
          </p:cNvPr>
          <p:cNvSpPr/>
          <p:nvPr/>
        </p:nvSpPr>
        <p:spPr>
          <a:xfrm flipV="1">
            <a:off x="2243338" y="4920062"/>
            <a:ext cx="3463328" cy="98462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矢印: 下カーブ 12">
            <a:extLst>
              <a:ext uri="{FF2B5EF4-FFF2-40B4-BE49-F238E27FC236}">
                <a16:creationId xmlns:a16="http://schemas.microsoft.com/office/drawing/2014/main" id="{EEFB3090-4E26-43BD-91B9-9013325AC31F}"/>
              </a:ext>
            </a:extLst>
          </p:cNvPr>
          <p:cNvSpPr/>
          <p:nvPr/>
        </p:nvSpPr>
        <p:spPr>
          <a:xfrm flipH="1">
            <a:off x="6572893" y="3088402"/>
            <a:ext cx="3483551" cy="98462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4CF7F8-98FB-4CFB-8569-D3C6602002FA}"/>
              </a:ext>
            </a:extLst>
          </p:cNvPr>
          <p:cNvSpPr txBox="1"/>
          <p:nvPr/>
        </p:nvSpPr>
        <p:spPr>
          <a:xfrm>
            <a:off x="796413" y="1548581"/>
            <a:ext cx="11164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参考元：ゴッドイーター</a:t>
            </a:r>
            <a:r>
              <a:rPr kumimoji="1" lang="en-US" altLang="ja-JP" sz="2400" dirty="0"/>
              <a:t>(</a:t>
            </a:r>
            <a:r>
              <a:rPr lang="ja-JP" altLang="en-US" sz="2400" dirty="0"/>
              <a:t>ベース</a:t>
            </a:r>
            <a:r>
              <a:rPr kumimoji="1" lang="en-US" altLang="ja-JP" sz="2400" dirty="0"/>
              <a:t>)</a:t>
            </a:r>
          </a:p>
          <a:p>
            <a:r>
              <a:rPr lang="ja-JP" altLang="en-US" sz="2400" dirty="0"/>
              <a:t>　　　　</a:t>
            </a:r>
            <a:r>
              <a:rPr lang="en-US" altLang="ja-JP" sz="2400" dirty="0"/>
              <a:t>Project Tower</a:t>
            </a:r>
            <a:r>
              <a:rPr lang="ja-JP" altLang="en-US" sz="2400" dirty="0"/>
              <a:t>（変身の参考元）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6597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7828-A50A-4A1D-AFD1-0D7000EA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11" y="36512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CA9510-9E71-458D-8A52-3D026B545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825626"/>
            <a:ext cx="10591800" cy="876011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自分の姿を状況に応じて姿を変化させながら相手を倒していく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00548CE-9649-4EA2-AC56-B29B43691FBA}"/>
              </a:ext>
            </a:extLst>
          </p:cNvPr>
          <p:cNvSpPr txBox="1"/>
          <p:nvPr/>
        </p:nvSpPr>
        <p:spPr>
          <a:xfrm>
            <a:off x="838200" y="3352092"/>
            <a:ext cx="5586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コンセプトのポイント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A75D08-502A-43FE-B4E3-9623340CC4BC}"/>
              </a:ext>
            </a:extLst>
          </p:cNvPr>
          <p:cNvSpPr txBox="1"/>
          <p:nvPr/>
        </p:nvSpPr>
        <p:spPr>
          <a:xfrm>
            <a:off x="838200" y="4156363"/>
            <a:ext cx="10317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・状況に応じて戦い方が変化する</a:t>
            </a:r>
            <a:br>
              <a:rPr lang="ja-JP" altLang="en-US" sz="2800" dirty="0"/>
            </a:br>
            <a:r>
              <a:rPr lang="ja-JP" altLang="en-US" sz="2800" dirty="0"/>
              <a:t>・敵の能力を利用した戦闘</a:t>
            </a:r>
            <a:br>
              <a:rPr lang="ja-JP" altLang="en-US" sz="2800" dirty="0"/>
            </a:br>
            <a:r>
              <a:rPr lang="ja-JP" altLang="en-US" sz="2800" dirty="0"/>
              <a:t>・変身と通常状態を使い分けることによる戦略性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3080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0FC35-04F3-475C-BA19-85E6C34F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38" y="36512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ゲームの流れ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2868C6-CBB5-475B-B5ED-82265D591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22" y="1690688"/>
            <a:ext cx="316853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クエストを受注</a:t>
            </a:r>
          </a:p>
          <a:p>
            <a:pPr marL="0" indent="0">
              <a:buNone/>
            </a:pPr>
            <a:r>
              <a:rPr kumimoji="1" lang="ja-JP" altLang="en-US" dirty="0"/>
              <a:t>↓</a:t>
            </a:r>
          </a:p>
          <a:p>
            <a:pPr marL="0" indent="0">
              <a:buNone/>
            </a:pPr>
            <a:r>
              <a:rPr kumimoji="1" lang="ja-JP" altLang="en-US" dirty="0"/>
              <a:t>フィールドへ移動</a:t>
            </a:r>
          </a:p>
          <a:p>
            <a:pPr marL="0" indent="0">
              <a:buNone/>
            </a:pPr>
            <a:r>
              <a:rPr kumimoji="1" lang="ja-JP" altLang="en-US" dirty="0"/>
              <a:t>↓</a:t>
            </a:r>
          </a:p>
          <a:p>
            <a:pPr marL="0" indent="0">
              <a:buNone/>
            </a:pPr>
            <a:r>
              <a:rPr kumimoji="1" lang="ja-JP" altLang="en-US" dirty="0"/>
              <a:t>敵と戦闘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↓</a:t>
            </a:r>
          </a:p>
          <a:p>
            <a:pPr marL="0" indent="0">
              <a:buNone/>
            </a:pPr>
            <a:r>
              <a:rPr kumimoji="1" lang="ja-JP" altLang="en-US" dirty="0"/>
              <a:t>敵を撃破</a:t>
            </a:r>
          </a:p>
          <a:p>
            <a:pPr marL="0" indent="0">
              <a:buNone/>
            </a:pPr>
            <a:r>
              <a:rPr kumimoji="1" lang="ja-JP" altLang="en-US" dirty="0"/>
              <a:t>↓</a:t>
            </a:r>
          </a:p>
          <a:p>
            <a:pPr marL="0" indent="0">
              <a:buNone/>
            </a:pPr>
            <a:r>
              <a:rPr kumimoji="1" lang="ja-JP" altLang="en-US" dirty="0"/>
              <a:t>拠点へ帰還　→</a:t>
            </a:r>
          </a:p>
        </p:txBody>
      </p:sp>
      <p:sp>
        <p:nvSpPr>
          <p:cNvPr id="4" name="矢印: 下カーブ 3">
            <a:extLst>
              <a:ext uri="{FF2B5EF4-FFF2-40B4-BE49-F238E27FC236}">
                <a16:creationId xmlns:a16="http://schemas.microsoft.com/office/drawing/2014/main" id="{CB230F2C-E5A3-4446-B9C0-B05B3DAAC40B}"/>
              </a:ext>
            </a:extLst>
          </p:cNvPr>
          <p:cNvSpPr/>
          <p:nvPr/>
        </p:nvSpPr>
        <p:spPr>
          <a:xfrm rot="16200000" flipV="1">
            <a:off x="2115590" y="2903653"/>
            <a:ext cx="4181301" cy="152261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6B68EA-1CDA-497A-8B9F-F60FAE64FA66}"/>
              </a:ext>
            </a:extLst>
          </p:cNvPr>
          <p:cNvSpPr txBox="1"/>
          <p:nvPr/>
        </p:nvSpPr>
        <p:spPr>
          <a:xfrm>
            <a:off x="4967549" y="2667432"/>
            <a:ext cx="738664" cy="19950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3600" dirty="0"/>
              <a:t>繰り返す</a:t>
            </a:r>
          </a:p>
        </p:txBody>
      </p:sp>
    </p:spTree>
    <p:extLst>
      <p:ext uri="{BB962C8B-B14F-4D97-AF65-F5344CB8AC3E}">
        <p14:creationId xmlns:p14="http://schemas.microsoft.com/office/powerpoint/2010/main" val="37086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,800点を超えるゴム銃のイラスト素材、ロイヤリティフリーのベクター素材グラフィックスとクリップアート - iStock">
            <a:extLst>
              <a:ext uri="{FF2B5EF4-FFF2-40B4-BE49-F238E27FC236}">
                <a16:creationId xmlns:a16="http://schemas.microsoft.com/office/drawing/2014/main" id="{F23208F5-97B5-4E59-887A-2934D26CD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404691" y="48918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249927F-0E3B-4AA8-BFE9-D95763D76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8" y="267305"/>
            <a:ext cx="10515600" cy="1325563"/>
          </a:xfrm>
        </p:spPr>
        <p:txBody>
          <a:bodyPr/>
          <a:lstStyle/>
          <a:p>
            <a:r>
              <a:rPr lang="ja-JP" altLang="en-US" dirty="0"/>
              <a:t>キャラクターの変身について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AE7A9C-C572-4B7D-B87E-260849D7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06" y="1360112"/>
            <a:ext cx="10645832" cy="4520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dirty="0"/>
              <a:t>二つのフォームがあり、それぞれできることが違う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8E6BFC-FA74-47D4-B362-050C8DDA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2816" y="2510588"/>
            <a:ext cx="4762500" cy="47625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7648DC8-188D-4BA9-A79F-A411FC8ACC23}"/>
              </a:ext>
            </a:extLst>
          </p:cNvPr>
          <p:cNvSpPr txBox="1"/>
          <p:nvPr/>
        </p:nvSpPr>
        <p:spPr>
          <a:xfrm>
            <a:off x="223058" y="2106658"/>
            <a:ext cx="51968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　変身前</a:t>
            </a:r>
            <a:endParaRPr lang="en-US" altLang="ja-JP" sz="3200" dirty="0"/>
          </a:p>
          <a:p>
            <a:r>
              <a:rPr lang="ja-JP" altLang="en-US" sz="3200" dirty="0"/>
              <a:t>・剣による近接アクション</a:t>
            </a:r>
            <a:endParaRPr kumimoji="1" lang="en-US" altLang="ja-JP" sz="3200" dirty="0"/>
          </a:p>
          <a:p>
            <a:r>
              <a:rPr lang="ja-JP" altLang="en-US" sz="3200" dirty="0"/>
              <a:t>・敵にマーキング</a:t>
            </a:r>
            <a:endParaRPr lang="en-US" altLang="ja-JP" sz="3200" dirty="0"/>
          </a:p>
          <a:p>
            <a:endParaRPr kumimoji="1" lang="en-US" altLang="ja-JP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F011A96-77CF-4E2E-A945-AE4F5199C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49174">
            <a:off x="1476444" y="3317410"/>
            <a:ext cx="2500905" cy="250090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AA02403-F50C-47FC-BDBD-8D25DCF8C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038" y="3486690"/>
            <a:ext cx="3084022" cy="3084022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1C798BB-FC09-4FB8-8211-701C7CB6A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49" y="4313183"/>
            <a:ext cx="1187199" cy="1901956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CEAA051-F987-4599-8E26-ADCFA3B870C2}"/>
              </a:ext>
            </a:extLst>
          </p:cNvPr>
          <p:cNvSpPr txBox="1"/>
          <p:nvPr/>
        </p:nvSpPr>
        <p:spPr>
          <a:xfrm>
            <a:off x="5858485" y="2110824"/>
            <a:ext cx="6469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変身中</a:t>
            </a:r>
            <a:endParaRPr kumimoji="1" lang="en-US" altLang="ja-JP" sz="3200" dirty="0"/>
          </a:p>
          <a:p>
            <a:r>
              <a:rPr lang="ja-JP" altLang="en-US" sz="3200" dirty="0"/>
              <a:t>・変化した敵に応じたアクション</a:t>
            </a:r>
            <a:endParaRPr lang="en-US" altLang="ja-JP" sz="3200" dirty="0"/>
          </a:p>
          <a:p>
            <a:r>
              <a:rPr lang="ja-JP" altLang="en-US" sz="3200" dirty="0"/>
              <a:t>（遠距離に特化など）</a:t>
            </a:r>
            <a:endParaRPr lang="en-US" altLang="ja-JP" sz="32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44AA17C0-6E71-474F-A6A3-355B5B82C03B}"/>
              </a:ext>
            </a:extLst>
          </p:cNvPr>
          <p:cNvSpPr/>
          <p:nvPr/>
        </p:nvSpPr>
        <p:spPr>
          <a:xfrm>
            <a:off x="3557847" y="3953317"/>
            <a:ext cx="3545569" cy="452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0D163B22-208A-4B14-902D-854B66FADD09}"/>
              </a:ext>
            </a:extLst>
          </p:cNvPr>
          <p:cNvSpPr/>
          <p:nvPr/>
        </p:nvSpPr>
        <p:spPr>
          <a:xfrm rot="10800000">
            <a:off x="3457950" y="4405381"/>
            <a:ext cx="3545569" cy="45206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D32C0A1-E8A2-4355-92D8-2C7C33802D2C}"/>
              </a:ext>
            </a:extLst>
          </p:cNvPr>
          <p:cNvSpPr txBox="1"/>
          <p:nvPr/>
        </p:nvSpPr>
        <p:spPr>
          <a:xfrm>
            <a:off x="3593298" y="4882332"/>
            <a:ext cx="3533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切り替えながら</a:t>
            </a:r>
            <a:r>
              <a:rPr lang="ja-JP" altLang="en-US" sz="2800" dirty="0"/>
              <a:t>戦う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251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7A77-75DB-48FB-8274-21004924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33" y="298624"/>
            <a:ext cx="10515600" cy="1199250"/>
          </a:xfrm>
        </p:spPr>
        <p:txBody>
          <a:bodyPr/>
          <a:lstStyle/>
          <a:p>
            <a:r>
              <a:rPr kumimoji="1" lang="ja-JP" altLang="en-US" dirty="0"/>
              <a:t>変身の活用例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527DA1-FB9D-4231-8A24-B1F8FF8D6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59" y="1314290"/>
            <a:ext cx="8462555" cy="540635"/>
          </a:xfrm>
        </p:spPr>
        <p:txBody>
          <a:bodyPr>
            <a:normAutofit/>
          </a:bodyPr>
          <a:lstStyle/>
          <a:p>
            <a:r>
              <a:rPr lang="ja-JP" altLang="en-US" dirty="0"/>
              <a:t>姿によって変身中に行えるアクションが変化する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AE11802-46E3-4296-98D4-C22169208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73" y="2092615"/>
            <a:ext cx="1860373" cy="186037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82164D2-F09C-4B1D-92BF-059E9D55F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89" y="2604508"/>
            <a:ext cx="1058340" cy="10583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55FBD72-06BE-4C20-B30A-48654A8E9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26370">
            <a:off x="1758848" y="1989801"/>
            <a:ext cx="1130775" cy="77787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5FD7E57-9367-44E9-B3D9-6907D9921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908649">
            <a:off x="2882164" y="1421625"/>
            <a:ext cx="1547691" cy="168322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1AF12AC-BDC4-4D3B-AD44-31FF47AFC5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41" y="2092615"/>
            <a:ext cx="2030994" cy="2030994"/>
          </a:xfrm>
          <a:prstGeom prst="rect">
            <a:avLst/>
          </a:prstGeom>
        </p:spPr>
      </p:pic>
      <p:sp>
        <p:nvSpPr>
          <p:cNvPr id="10" name="爆発: 8 pt 9">
            <a:extLst>
              <a:ext uri="{FF2B5EF4-FFF2-40B4-BE49-F238E27FC236}">
                <a16:creationId xmlns:a16="http://schemas.microsoft.com/office/drawing/2014/main" id="{A13706E9-B2CE-4B9E-B1DE-360CB89FA045}"/>
              </a:ext>
            </a:extLst>
          </p:cNvPr>
          <p:cNvSpPr/>
          <p:nvPr/>
        </p:nvSpPr>
        <p:spPr>
          <a:xfrm>
            <a:off x="3957182" y="1886534"/>
            <a:ext cx="688620" cy="1306888"/>
          </a:xfrm>
          <a:prstGeom prst="irregularSeal1">
            <a:avLst/>
          </a:prstGeom>
          <a:solidFill>
            <a:schemeClr val="accent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F33693-30B6-470A-B729-B4AA4B367C93}"/>
              </a:ext>
            </a:extLst>
          </p:cNvPr>
          <p:cNvSpPr txBox="1"/>
          <p:nvPr/>
        </p:nvSpPr>
        <p:spPr>
          <a:xfrm>
            <a:off x="6412194" y="1991262"/>
            <a:ext cx="530355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・遠距離攻撃を行う敵に変身し、安全な位置から攻撃</a:t>
            </a:r>
            <a:endParaRPr kumimoji="1" lang="en-US" altLang="ja-JP" sz="2000" dirty="0"/>
          </a:p>
          <a:p>
            <a:endParaRPr kumimoji="1" lang="ja-JP" altLang="en-US" sz="2000" dirty="0"/>
          </a:p>
          <a:p>
            <a:r>
              <a:rPr kumimoji="1" lang="ja-JP" altLang="en-US" sz="2000" dirty="0"/>
              <a:t>・近接特化の敵に変身し、大ダメージを狙う</a:t>
            </a:r>
            <a:endParaRPr kumimoji="1" lang="en-US" altLang="ja-JP" sz="2000" dirty="0"/>
          </a:p>
          <a:p>
            <a:r>
              <a:rPr lang="ja-JP" altLang="en-US" sz="2000" dirty="0"/>
              <a:t>など</a:t>
            </a:r>
            <a:endParaRPr lang="en-US" altLang="ja-JP" sz="2000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29202432-9A91-470E-B1CB-128FA355D9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32597">
            <a:off x="354610" y="4449109"/>
            <a:ext cx="1936095" cy="1936095"/>
          </a:xfrm>
          <a:prstGeom prst="rect">
            <a:avLst/>
          </a:prstGeom>
        </p:spPr>
      </p:pic>
      <p:sp>
        <p:nvSpPr>
          <p:cNvPr id="19" name="爆発: 8 pt 18">
            <a:extLst>
              <a:ext uri="{FF2B5EF4-FFF2-40B4-BE49-F238E27FC236}">
                <a16:creationId xmlns:a16="http://schemas.microsoft.com/office/drawing/2014/main" id="{C8C98F18-7747-4F9D-9C59-D311E527205F}"/>
              </a:ext>
            </a:extLst>
          </p:cNvPr>
          <p:cNvSpPr/>
          <p:nvPr/>
        </p:nvSpPr>
        <p:spPr>
          <a:xfrm>
            <a:off x="2124891" y="5277394"/>
            <a:ext cx="252549" cy="266316"/>
          </a:xfrm>
          <a:prstGeom prst="irregularSeal1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C2FE433C-8FC9-44D3-AB3E-64018320AA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92" y="4513699"/>
            <a:ext cx="2030994" cy="2030994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A29F48F9-6782-48C1-A6EB-A7A1700A1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931" y="4598051"/>
            <a:ext cx="2030994" cy="2030994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158F96AA-D4E6-4A4B-B585-7EB7D9C7B7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09" y="5347063"/>
            <a:ext cx="856631" cy="1032496"/>
          </a:xfrm>
          <a:prstGeom prst="rect">
            <a:avLst/>
          </a:prstGeom>
        </p:spPr>
      </p:pic>
      <p:sp>
        <p:nvSpPr>
          <p:cNvPr id="27" name="楕円 26">
            <a:extLst>
              <a:ext uri="{FF2B5EF4-FFF2-40B4-BE49-F238E27FC236}">
                <a16:creationId xmlns:a16="http://schemas.microsoft.com/office/drawing/2014/main" id="{5B003C48-924E-41D7-A4EB-CCADCF3C05FC}"/>
              </a:ext>
            </a:extLst>
          </p:cNvPr>
          <p:cNvSpPr/>
          <p:nvPr/>
        </p:nvSpPr>
        <p:spPr>
          <a:xfrm rot="19124543">
            <a:off x="7334008" y="5528093"/>
            <a:ext cx="1308251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F370CC87-E302-4C08-8EAF-34BE5AE64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75" y="4567698"/>
            <a:ext cx="884018" cy="884018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7958C24C-3001-44D1-9671-DE28AC797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920" y="5347063"/>
            <a:ext cx="869406" cy="86940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9BC8EB4-1B02-4262-A676-4B0A0C1097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52089">
            <a:off x="3062731" y="2696975"/>
            <a:ext cx="2188704" cy="1504734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36AFE199-A87E-4E29-9331-B13BC669C9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52089">
            <a:off x="3019307" y="5113164"/>
            <a:ext cx="2188704" cy="1504734"/>
          </a:xfrm>
          <a:prstGeom prst="rect">
            <a:avLst/>
          </a:prstGeom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DA6C7F6B-B131-4FA9-8993-018F0C989F98}"/>
              </a:ext>
            </a:extLst>
          </p:cNvPr>
          <p:cNvSpPr/>
          <p:nvPr/>
        </p:nvSpPr>
        <p:spPr>
          <a:xfrm>
            <a:off x="2228848" y="5277394"/>
            <a:ext cx="2482790" cy="266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爆発: 8 pt 21">
            <a:extLst>
              <a:ext uri="{FF2B5EF4-FFF2-40B4-BE49-F238E27FC236}">
                <a16:creationId xmlns:a16="http://schemas.microsoft.com/office/drawing/2014/main" id="{2DDFB801-DE1C-4C18-AB77-FDB69A0FB5C1}"/>
              </a:ext>
            </a:extLst>
          </p:cNvPr>
          <p:cNvSpPr/>
          <p:nvPr/>
        </p:nvSpPr>
        <p:spPr>
          <a:xfrm>
            <a:off x="4252941" y="4763712"/>
            <a:ext cx="688620" cy="1306888"/>
          </a:xfrm>
          <a:prstGeom prst="irregularSeal1">
            <a:avLst/>
          </a:prstGeom>
          <a:solidFill>
            <a:schemeClr val="accent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05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1,800点を超えるゴム銃のイラスト素材、ロイヤリティフリーのベクター素材グラフィックスとクリップアート - iStock">
            <a:extLst>
              <a:ext uri="{FF2B5EF4-FFF2-40B4-BE49-F238E27FC236}">
                <a16:creationId xmlns:a16="http://schemas.microsoft.com/office/drawing/2014/main" id="{F4DE5204-9DEE-4DD2-902D-9C0E9F30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41039" flipH="1">
            <a:off x="-202249" y="2295121"/>
            <a:ext cx="1216357" cy="115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6858892E-0AC8-41F5-8DF8-D311DE882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1" y="281998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敵に</a:t>
            </a:r>
            <a:r>
              <a:rPr lang="ja-JP" altLang="en-US" dirty="0"/>
              <a:t>変身す</a:t>
            </a:r>
            <a:r>
              <a:rPr kumimoji="1" lang="ja-JP" altLang="en-US" dirty="0"/>
              <a:t>るための条件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E5BB11-0048-45DB-8013-B8496C13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216" y="1396017"/>
            <a:ext cx="5432764" cy="1865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400" dirty="0"/>
              <a:t>1.</a:t>
            </a:r>
            <a:r>
              <a:rPr lang="ja-JP" altLang="en-US" sz="2400" dirty="0"/>
              <a:t>相手にマーキングを行うこと</a:t>
            </a:r>
            <a:endParaRPr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（マーキングは複数体につけれず、</a:t>
            </a:r>
            <a:endParaRPr kumimoji="1"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　　　　　　　最後につけた敵のみ）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　　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0390DD-C3AA-49D2-AC32-E9CAFA69F3CC}"/>
              </a:ext>
            </a:extLst>
          </p:cNvPr>
          <p:cNvSpPr txBox="1"/>
          <p:nvPr/>
        </p:nvSpPr>
        <p:spPr>
          <a:xfrm>
            <a:off x="6245629" y="1418093"/>
            <a:ext cx="55196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2.</a:t>
            </a:r>
            <a:r>
              <a:rPr kumimoji="1" lang="ja-JP" altLang="en-US" sz="2400" dirty="0"/>
              <a:t>マーキングした相手が</a:t>
            </a:r>
            <a:endParaRPr kumimoji="1" lang="en-US" altLang="ja-JP" sz="2400" dirty="0"/>
          </a:p>
          <a:p>
            <a:r>
              <a:rPr lang="ja-JP" altLang="en-US" sz="2400" dirty="0"/>
              <a:t>　　　　　　　</a:t>
            </a:r>
            <a:r>
              <a:rPr kumimoji="1" lang="ja-JP" altLang="en-US" sz="2400" dirty="0"/>
              <a:t>生きていること</a:t>
            </a:r>
            <a:endParaRPr kumimoji="1" lang="en-US" altLang="ja-JP" sz="2400" dirty="0"/>
          </a:p>
          <a:p>
            <a:r>
              <a:rPr lang="ja-JP" altLang="en-US" sz="2400" dirty="0"/>
              <a:t>　　　（マーキングしたら自由に変身可可能）</a:t>
            </a:r>
            <a:endParaRPr kumimoji="1" lang="ja-JP" altLang="en-US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39D5B7-2E1B-4828-9CBD-9CD4CC5D6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146" y="3491980"/>
            <a:ext cx="3084022" cy="308402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312700D-E644-41B0-8937-DCC34BD2D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558" y="4318473"/>
            <a:ext cx="1187199" cy="190195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42BABEE-8DA6-4DBD-B63E-58F488F821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90343">
            <a:off x="-90569" y="2017380"/>
            <a:ext cx="1907782" cy="190778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94AB778-AB37-4795-937B-599B3DF2F9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146" y="4427769"/>
            <a:ext cx="1105286" cy="95396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C4C555E-8ADC-494C-98EE-B1AC574BE7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48883">
            <a:off x="998491" y="3258630"/>
            <a:ext cx="1931448" cy="132866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B63D724-4B74-454B-9154-5801D2A41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44420" y="1919410"/>
            <a:ext cx="1485975" cy="130751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4BFA05C-41A4-4A4E-BC51-94B9784F8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287" y="2354654"/>
            <a:ext cx="437426" cy="61661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381E806-77C7-4876-9CE0-DB350B5566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629" y="2009315"/>
            <a:ext cx="811938" cy="616617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B66D6EA8-84B7-4A48-84A2-38BAF8630E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23" y="2500449"/>
            <a:ext cx="4179971" cy="4179971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BA87E41C-F507-4540-A50B-4DCF2E341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874" y="3843349"/>
            <a:ext cx="3579881" cy="3579881"/>
          </a:xfrm>
          <a:prstGeom prst="rect">
            <a:avLst/>
          </a:prstGeom>
        </p:spPr>
      </p:pic>
      <p:sp>
        <p:nvSpPr>
          <p:cNvPr id="21" name="爆発: 8 pt 20">
            <a:extLst>
              <a:ext uri="{FF2B5EF4-FFF2-40B4-BE49-F238E27FC236}">
                <a16:creationId xmlns:a16="http://schemas.microsoft.com/office/drawing/2014/main" id="{8CEF099F-91E8-4112-ABCD-4521FCE54CF5}"/>
              </a:ext>
            </a:extLst>
          </p:cNvPr>
          <p:cNvSpPr/>
          <p:nvPr/>
        </p:nvSpPr>
        <p:spPr>
          <a:xfrm>
            <a:off x="7331825" y="3843349"/>
            <a:ext cx="1756047" cy="2377080"/>
          </a:xfrm>
          <a:prstGeom prst="irregularSeal1">
            <a:avLst/>
          </a:prstGeom>
          <a:solidFill>
            <a:schemeClr val="accent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B8ECB4D9-E7A9-469F-925D-D1C2F689A4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49174">
            <a:off x="6393539" y="3945252"/>
            <a:ext cx="2500905" cy="2500905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8D71FAE7-965E-4E8F-B8A4-FCBCCED1CD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2825">
            <a:off x="10143067" y="3474805"/>
            <a:ext cx="1086114" cy="108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5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1,800点を超えるゴム銃のイラスト素材、ロイヤリティフリーのベクター素材グラフィックスとクリップアート - iStock">
            <a:extLst>
              <a:ext uri="{FF2B5EF4-FFF2-40B4-BE49-F238E27FC236}">
                <a16:creationId xmlns:a16="http://schemas.microsoft.com/office/drawing/2014/main" id="{4C5997E9-677F-4530-95A2-D6BC7DC2C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41039" flipH="1">
            <a:off x="-76994" y="5106026"/>
            <a:ext cx="1216357" cy="115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83053AC-A230-4354-9781-1FC2445B4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" y="348192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効率よくマーキングを行うには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4BF017-58D6-43D9-8F3C-8F42D48C3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37" y="1622792"/>
            <a:ext cx="5715000" cy="57890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ja-JP" altLang="en-US" sz="3200" dirty="0"/>
              <a:t>弱らせて逃げたところをマーキング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544371F-79DB-4DFE-AA43-32C97642F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737" y="2239891"/>
            <a:ext cx="1678555" cy="167855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8F809D9-29C7-4535-864D-DB2E50650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152" y="2700001"/>
            <a:ext cx="607723" cy="97360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0FC9F06-3CE3-47DB-8327-81A13D3C6F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749" y="4092471"/>
            <a:ext cx="3032771" cy="303277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D26B784-3737-4DBE-B474-F90B5AC57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90746">
            <a:off x="1516579" y="4581500"/>
            <a:ext cx="1436688" cy="98831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DF3CF86-7E72-4129-AAA5-CDBBFB448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233229">
            <a:off x="2438878" y="3187499"/>
            <a:ext cx="635025" cy="116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86FA4A2-5D86-42E8-86BA-5651DD6275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386" y="3441462"/>
            <a:ext cx="1105286" cy="95396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55EFA28-2447-435C-8ACC-D9243CB41E1F}"/>
              </a:ext>
            </a:extLst>
          </p:cNvPr>
          <p:cNvSpPr txBox="1"/>
          <p:nvPr/>
        </p:nvSpPr>
        <p:spPr>
          <a:xfrm>
            <a:off x="6273802" y="1622792"/>
            <a:ext cx="5791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700" dirty="0"/>
              <a:t>背後から</a:t>
            </a:r>
            <a:r>
              <a:rPr kumimoji="1" lang="ja-JP" altLang="en-US" sz="2800" dirty="0"/>
              <a:t>など敵に発見されていない状態でマーキング</a:t>
            </a:r>
          </a:p>
        </p:txBody>
      </p:sp>
      <p:pic>
        <p:nvPicPr>
          <p:cNvPr id="12" name="Picture 2" descr="1,800点を超えるゴム銃のイラスト素材、ロイヤリティフリーのベクター素材グラフィックスとクリップアート - iStock">
            <a:extLst>
              <a:ext uri="{FF2B5EF4-FFF2-40B4-BE49-F238E27FC236}">
                <a16:creationId xmlns:a16="http://schemas.microsoft.com/office/drawing/2014/main" id="{65063AB2-1224-4CF4-A255-44F68BAB7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41039" flipH="1">
            <a:off x="5251369" y="5106024"/>
            <a:ext cx="1216357" cy="115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4A1037D-ECB2-40DB-9C7A-14588A3BF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757" y="2479082"/>
            <a:ext cx="1678555" cy="167855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80F88B4-D36A-41FC-B3FD-A4C381FD1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320" y="2833001"/>
            <a:ext cx="607723" cy="97360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3BB7F4C-5938-45B2-B454-9D7DA42CC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614" y="4092469"/>
            <a:ext cx="3032771" cy="303277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E570086-6C3C-4A2D-B16C-20A4AFB46D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90746">
            <a:off x="6844942" y="4581498"/>
            <a:ext cx="1436688" cy="98831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E82F9B2A-AFDB-4A2D-AD8C-DF890ACF5C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749" y="3441460"/>
            <a:ext cx="1105286" cy="95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5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6195C0-9EDC-4710-9381-5C8C398D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8" y="16562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変身時のペナルティ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08614F-60AE-4DD3-A2C8-226AD0516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1130742" cy="1678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マーキング中の敵に対して攻撃を当てると、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数秒後（</a:t>
            </a:r>
            <a:r>
              <a:rPr lang="en-US" altLang="ja-JP" dirty="0"/>
              <a:t>6</a:t>
            </a:r>
            <a:r>
              <a:rPr lang="ja-JP" altLang="en-US" dirty="0"/>
              <a:t>～</a:t>
            </a:r>
            <a:r>
              <a:rPr lang="en-US" altLang="ja-JP" dirty="0"/>
              <a:t>8</a:t>
            </a:r>
            <a:r>
              <a:rPr lang="ja-JP" altLang="en-US" dirty="0"/>
              <a:t>秒）に変身前に戻り、マーキングが外れてしまう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マーキング解除後、</a:t>
            </a:r>
            <a:r>
              <a:rPr lang="en-US" altLang="ja-JP" dirty="0"/>
              <a:t>10</a:t>
            </a:r>
            <a:r>
              <a:rPr lang="ja-JP" altLang="en-US" dirty="0"/>
              <a:t>秒間は再マーキング不可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6D23C0-08F0-4EB2-9862-83A9ACD0C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587" y="3864162"/>
            <a:ext cx="2025535" cy="202553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FDCCBA1-88F6-4235-9177-CB682F8E2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488" y="4488640"/>
            <a:ext cx="604612" cy="9686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BE5CE6C-60DE-4323-9EBB-A002B2931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055" y="4118899"/>
            <a:ext cx="725934" cy="6265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B55B5BF-5948-4653-B9D4-B862D2C68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22" y="3900913"/>
            <a:ext cx="2025535" cy="202553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16ED452-2A46-4DF6-BF93-B1E9BF7547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93" y="4129705"/>
            <a:ext cx="1759992" cy="1759992"/>
          </a:xfrm>
          <a:prstGeom prst="rect">
            <a:avLst/>
          </a:prstGeom>
        </p:spPr>
      </p:pic>
      <p:sp>
        <p:nvSpPr>
          <p:cNvPr id="9" name="爆発: 8 pt 8">
            <a:extLst>
              <a:ext uri="{FF2B5EF4-FFF2-40B4-BE49-F238E27FC236}">
                <a16:creationId xmlns:a16="http://schemas.microsoft.com/office/drawing/2014/main" id="{FA258873-02C1-4438-A15B-7A2F16FFC13E}"/>
              </a:ext>
            </a:extLst>
          </p:cNvPr>
          <p:cNvSpPr/>
          <p:nvPr/>
        </p:nvSpPr>
        <p:spPr>
          <a:xfrm>
            <a:off x="1891261" y="4118899"/>
            <a:ext cx="1109514" cy="1440941"/>
          </a:xfrm>
          <a:prstGeom prst="irregularSeal1">
            <a:avLst/>
          </a:prstGeom>
          <a:solidFill>
            <a:schemeClr val="accent2">
              <a:lumMod val="7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カーブ 9">
            <a:extLst>
              <a:ext uri="{FF2B5EF4-FFF2-40B4-BE49-F238E27FC236}">
                <a16:creationId xmlns:a16="http://schemas.microsoft.com/office/drawing/2014/main" id="{24FAD13C-D568-48F1-BCA1-7544488850A0}"/>
              </a:ext>
            </a:extLst>
          </p:cNvPr>
          <p:cNvSpPr/>
          <p:nvPr/>
        </p:nvSpPr>
        <p:spPr>
          <a:xfrm>
            <a:off x="4529576" y="3650778"/>
            <a:ext cx="2909455" cy="95785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2496007-A225-4D07-8E0F-FC2676CC17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688" y="2813885"/>
            <a:ext cx="3567881" cy="356788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0AC3A1C-8AAD-47DD-BFA3-3239D9049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01707" y="3826601"/>
            <a:ext cx="2521238" cy="202553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4FD12F3-BD4A-4842-B026-FFA2802C3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245" y="4488640"/>
            <a:ext cx="604612" cy="96862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DF6CA62-6FAA-4E0B-9C63-BDEE9331EB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651" y="3175327"/>
            <a:ext cx="991940" cy="99194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08E81D3-B14B-44B7-BDD8-1DD05C0B2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72285">
            <a:off x="9407512" y="3717998"/>
            <a:ext cx="1086114" cy="108611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FD7135EB-2D27-43A5-8130-D4E117F457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82251">
            <a:off x="9025183" y="2775036"/>
            <a:ext cx="1931448" cy="132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24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855FC-5E08-40F2-8F4E-DFFB36CD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82" y="338999"/>
            <a:ext cx="11853817" cy="1325563"/>
          </a:xfrm>
        </p:spPr>
        <p:txBody>
          <a:bodyPr/>
          <a:lstStyle/>
          <a:p>
            <a:r>
              <a:rPr kumimoji="1" lang="ja-JP" altLang="en-US" dirty="0"/>
              <a:t>各操作について（どんな操作があるかなど）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A81D89-2FE0-47F8-880E-FF6813DAE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006" y="1582103"/>
            <a:ext cx="3310467" cy="32606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ja-JP" altLang="en-US" sz="1800" b="1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通常時</a:t>
            </a:r>
            <a:endParaRPr lang="en-US" altLang="ja-JP" sz="1800" b="1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l"/>
            <a:r>
              <a:rPr lang="ja-JP" altLang="ja-JP" sz="1800" b="1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武器：剣（近接）</a:t>
            </a:r>
            <a:b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</a:b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アクション：</a:t>
            </a: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□</a:t>
            </a: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：斬撃（軽攻撃） </a:t>
            </a: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△</a:t>
            </a: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：溜め斬り（強攻撃） </a:t>
            </a: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ガード</a:t>
            </a: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18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ステップ・ダッシュ </a:t>
            </a:r>
            <a:endParaRPr lang="en-US" altLang="ja-JP" sz="1800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en-US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マーキング</a:t>
            </a:r>
            <a:endParaRPr lang="en-US" altLang="ja-JP" sz="180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en-US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変化</a:t>
            </a:r>
            <a:endParaRPr lang="ja-JP" altLang="ja-JP" sz="1800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ja-JP" altLang="en-US" sz="2400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8012761-ADEF-4E09-9235-E85BA3FAF26F}"/>
              </a:ext>
            </a:extLst>
          </p:cNvPr>
          <p:cNvSpPr txBox="1">
            <a:spLocks/>
          </p:cNvSpPr>
          <p:nvPr/>
        </p:nvSpPr>
        <p:spPr>
          <a:xfrm>
            <a:off x="5366658" y="1664562"/>
            <a:ext cx="4003765" cy="24043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1800" b="1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変化状態（一例）</a:t>
            </a:r>
            <a:endParaRPr lang="en-US" altLang="ja-JP" sz="1800" b="1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r>
              <a:rPr lang="ja-JP" altLang="ja-JP" sz="1800" b="1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武器：</a:t>
            </a:r>
            <a:r>
              <a:rPr lang="ja-JP" altLang="ja-JP" sz="1800" dirty="0">
                <a:effectLst/>
                <a:ea typeface="游明朝" panose="02020400000000000000" pitchFamily="18" charset="-128"/>
                <a:cs typeface="Times New Roman" panose="02020603050405020304" pitchFamily="18" charset="0"/>
              </a:rPr>
              <a:t>射撃攻撃（弾・ビームなど）</a:t>
            </a: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アクション：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□</a:t>
            </a: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：</a:t>
            </a:r>
            <a:r>
              <a:rPr lang="ja-JP" altLang="en-US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弾を一定間隔で発射</a:t>
            </a: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（軽攻撃） 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△</a:t>
            </a: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：溜め</a:t>
            </a:r>
            <a:r>
              <a:rPr lang="ja-JP" altLang="en-US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撃ち</a:t>
            </a: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（強攻撃） 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回避 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ステップ・ダッシュ</a:t>
            </a:r>
            <a:endParaRPr lang="en-US" altLang="ja-JP" sz="1800" kern="100" dirty="0"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ja-JP" altLang="en-US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変化を解除</a:t>
            </a:r>
            <a:r>
              <a:rPr lang="ja-JP" altLang="ja-JP" sz="1800" kern="100" dirty="0"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ja-JP" altLang="en-US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FAAD4B-D772-40D8-9664-856D2E0EF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49174">
            <a:off x="3072430" y="1431955"/>
            <a:ext cx="1720668" cy="172066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EB6AF4D-9E87-4372-BBE3-C7454F188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51201">
            <a:off x="8806199" y="2035229"/>
            <a:ext cx="1931448" cy="132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27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388</Words>
  <Application>Microsoft Office PowerPoint</Application>
  <PresentationFormat>ワイド画面</PresentationFormat>
  <Paragraphs>65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游ゴシック</vt:lpstr>
      <vt:lpstr>游ゴシック Light</vt:lpstr>
      <vt:lpstr>游明朝</vt:lpstr>
      <vt:lpstr>Arial</vt:lpstr>
      <vt:lpstr>Symbol</vt:lpstr>
      <vt:lpstr>Office テーマ</vt:lpstr>
      <vt:lpstr>フォームトレース（Form Trace）</vt:lpstr>
      <vt:lpstr>コンセプト</vt:lpstr>
      <vt:lpstr>ゲームの流れ</vt:lpstr>
      <vt:lpstr>キャラクターの変身について</vt:lpstr>
      <vt:lpstr>変身の活用例</vt:lpstr>
      <vt:lpstr>敵に変身するための条件</vt:lpstr>
      <vt:lpstr>効率よくマーキングを行うには</vt:lpstr>
      <vt:lpstr>変身時のペナルティ</vt:lpstr>
      <vt:lpstr>各操作について（どんな操作があるかなど）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シェイプ</dc:title>
  <dc:creator>松元遥斗</dc:creator>
  <cp:lastModifiedBy>松元遥斗</cp:lastModifiedBy>
  <cp:revision>52</cp:revision>
  <dcterms:created xsi:type="dcterms:W3CDTF">2026-04-13T04:51:20Z</dcterms:created>
  <dcterms:modified xsi:type="dcterms:W3CDTF">2026-10-01T01:42:29Z</dcterms:modified>
</cp:coreProperties>
</file>